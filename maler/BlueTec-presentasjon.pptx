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 – Forsid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uetec-lockup-stacked-mon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756709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194560"/>
            <a:ext cx="73152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BlueTec Geometric"/>
              </a:rPr>
              <a:t>Presentasjonstittel 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749039"/>
            <a:ext cx="640080" cy="2540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CDDEE"/>
                </a:solidFill>
                <a:latin typeface="BlueTec Geometric"/>
              </a:rPr>
              <a:t>Undertittel · Avdeling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88AACC"/>
                </a:solidFill>
                <a:latin typeface="BlueTec Geometric"/>
              </a:rPr>
              <a:t>TEKNOLOGI · ENERGI &amp; MILJØ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 – Seksjonsskill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828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0" b="1">
                <a:solidFill>
                  <a:srgbClr val="005090"/>
                </a:solidFill>
                <a:latin typeface="BlueTec Geometr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4320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BlueTec Geometric"/>
              </a:rPr>
              <a:t>[Seksjonstittel]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06040"/>
            <a:ext cx="548640" cy="2540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CCDDEE"/>
                </a:solidFill>
                <a:latin typeface="BlueTec Geometric"/>
              </a:rPr>
              <a:t>[Kort beskrivelse av seksjonen]</a:t>
            </a:r>
          </a:p>
        </p:txBody>
      </p:sp>
      <p:pic>
        <p:nvPicPr>
          <p:cNvPr id="7" name="Picture 6" descr="bluetec-lockup-horizontal-mon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217920"/>
            <a:ext cx="9042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 – Innholdssid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uetec-lockup-horizontal-mon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981789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64592"/>
            <a:ext cx="11914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>
                <a:solidFill>
                  <a:srgbClr val="AACCEE"/>
                </a:solidFill>
                <a:latin typeface="BlueTec Geometric"/>
              </a:rPr>
              <a:t>[Seksjons-/emnetittel]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BlueTec Geometric"/>
              </a:rPr>
              <a:t>Slide-tittel her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5151A"/>
                </a:solidFill>
                <a:latin typeface="BlueTec Geometric"/>
              </a:rPr>
              <a:t>▪  Første hoveddpunkt — utdyp kort og tydelig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5151A"/>
                </a:solidFill>
                <a:latin typeface="BlueTec Geometric"/>
              </a:rPr>
              <a:t>▪  Andre punkt — bruk BlueTec Geometric, aldri Arial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5151A"/>
                </a:solidFill>
                <a:latin typeface="BlueTec Geometric"/>
              </a:rPr>
              <a:t>▪  Tredje punkt — legg til bilde eller graf i høyre halvdel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5151A"/>
                </a:solidFill>
                <a:latin typeface="BlueTec Geometric"/>
              </a:rPr>
              <a:t>▪  Fjerde punkt — bruk maks 5–6 punkter per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AACCEE"/>
                </a:solidFill>
                <a:latin typeface="BlueTec Geometric"/>
              </a:rPr>
              <a:t>bluetec.no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>
                <a:solidFill>
                  <a:srgbClr val="FFFFFF"/>
                </a:solidFill>
                <a:latin typeface="BlueTec Geometr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 – To spalter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uetec-lockup-horizontal-mon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981789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76188" y="777240"/>
            <a:ext cx="27432" cy="576072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362956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A1628"/>
                </a:solidFill>
                <a:latin typeface="BlueTec Geometric"/>
              </a:rPr>
              <a:t>[Venstre tittel]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362956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5151A"/>
                </a:solidFill>
                <a:latin typeface="BlueTec Geometric"/>
              </a:rPr>
              <a:t>[Innhold, tekst, bilde eller liste på venstre side. Bruk denne kolonnen til primærinnhold.]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236" y="777240"/>
            <a:ext cx="5362956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A1628"/>
                </a:solidFill>
                <a:latin typeface="BlueTec Geometric"/>
              </a:rPr>
              <a:t>[Høyre tittel]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0236" y="1280160"/>
            <a:ext cx="5362956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5151A"/>
                </a:solidFill>
                <a:latin typeface="BlueTec Geometric"/>
              </a:rPr>
              <a:t>[Innhold, tall, sitat eller bilde på høyre side.]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AACCEE"/>
                </a:solidFill>
                <a:latin typeface="BlueTec Geometric"/>
              </a:rPr>
              <a:t>bluetec.no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5 – Full-bleed foto">
    <p:spTree>
      <p:nvGrpSpPr>
        <p:cNvPr id="1" name=""/>
        <p:cNvGrpSpPr/>
        <p:nvPr/>
      </p:nvGrpSpPr>
      <p:grpSpPr/>
      <p:pic>
        <p:nvPicPr>
          <p:cNvPr id="2" name="Picture 1" descr="sol-enebolig-aerial-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3371" cy="6858000"/>
          </a:xfrm>
          <a:prstGeom prst="rect">
            <a:avLst/>
          </a:prstGeom>
          <a:solidFill>
            <a:srgbClr val="0A162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uetec-lockup-horizontal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826770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0"/>
            <a:ext cx="59436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BlueTec Geometric"/>
              </a:rPr>
              <a:t>[Fototittel
på to linjer]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502920" cy="2540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0233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CDDEE"/>
                </a:solidFill>
                <a:latin typeface="BlueTec Geometric"/>
              </a:rPr>
              <a:t>[Seksjon · Kontekst]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6 – Data og graf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uetec-lockup-horizontal-mon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981789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229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A1628"/>
                </a:solidFill>
                <a:latin typeface="BlueTec Geometric"/>
              </a:rPr>
              <a:t>Data og resultater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3200400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BlueTec Geometric"/>
              </a:rPr>
              <a:t>[xx xxx]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CC0EE"/>
                </a:solidFill>
                <a:latin typeface="BlueTec Geometric"/>
              </a:rPr>
              <a:t>kWh produsert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508760"/>
            <a:ext cx="3200400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60020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BlueTec Geometric"/>
              </a:rPr>
              <a:t>[xx xxx]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28600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CC0EE"/>
                </a:solidFill>
                <a:latin typeface="BlueTec Geometric"/>
              </a:rPr>
              <a:t>kg CO₂ spart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508760"/>
            <a:ext cx="3200400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60020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BlueTec Geometric"/>
              </a:rPr>
              <a:t>[xx,x 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28600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CC0EE"/>
                </a:solidFill>
                <a:latin typeface="BlueTec Geometric"/>
              </a:rPr>
              <a:t>Ytelsesgrad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1338560" cy="292608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1133856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86867F"/>
                </a:solidFill>
                <a:latin typeface="BlueTec Geometric"/>
              </a:rPr>
              <a:t>[Sett inn graf her via Sett inn &gt; Diagram (PowerPoint) eller lim inn fra Excel]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AACCEE"/>
                </a:solidFill>
                <a:latin typeface="BlueTec Geometric"/>
              </a:rPr>
              <a:t>bluetec.no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7 – Avslutning og kontakt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uetec-lockup-stacked-mon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756709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828800"/>
            <a:ext cx="82296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BlueTec Geometric"/>
              </a:rPr>
              <a:t>Klar for neste steg?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00400"/>
            <a:ext cx="640080" cy="2540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CCDDEE"/>
                </a:solidFill>
                <a:latin typeface="BlueTec Geometric"/>
              </a:rPr>
              <a:t>[Avslutningssetning — invitasjon, neste steg eller takk for oppmerksomheten]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CC0EE"/>
                </a:solidFill>
                <a:latin typeface="BlueTec Geometric"/>
              </a:rPr>
              <a:t>TELEFON
33 33 11 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572000"/>
            <a:ext cx="3657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CC0EE"/>
                </a:solidFill>
                <a:latin typeface="BlueTec Geometric"/>
              </a:rPr>
              <a:t>E-POST
post@bluetec.no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572000"/>
            <a:ext cx="3657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CC0EE"/>
                </a:solidFill>
                <a:latin typeface="BlueTec Geometric"/>
              </a:rPr>
              <a:t>WEB
bluetec.no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446688"/>
                </a:solidFill>
                <a:latin typeface="BlueTec Geometric"/>
              </a:rPr>
              <a:t>TEKNOLOGI · ENERGI &amp; MILJØ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Tec">
  <a:themeElements>
    <a:clrScheme name="BlueTec">
      <a:dk1>
        <a:srgbClr val="0A1628"/>
      </a:dk1>
      <a:lt1>
        <a:srgbClr val="FFFFFF"/>
      </a:lt1>
      <a:dk2>
        <a:srgbClr val="15151A"/>
      </a:dk2>
      <a:lt2>
        <a:srgbClr val="F4F4F2"/>
      </a:lt2>
      <a:accent1>
        <a:srgbClr val="0077C8"/>
      </a:accent1>
      <a:accent2>
        <a:srgbClr val="0A1628"/>
      </a:accent2>
      <a:accent3>
        <a:srgbClr val="EAF4FB"/>
      </a:accent3>
      <a:accent4>
        <a:srgbClr val="86867F"/>
      </a:accent4>
      <a:accent5>
        <a:srgbClr val="E6E6E1"/>
      </a:accent5>
      <a:accent6>
        <a:srgbClr val="7CC0EE"/>
      </a:accent6>
      <a:hlink>
        <a:srgbClr val="0077C8"/>
      </a:hlink>
      <a:folHlink>
        <a:srgbClr val="0A1628"/>
      </a:folHlink>
    </a:clrScheme>
    <a:fontScheme name="BlueTec">
      <a:majorFont>
        <a:latin typeface="BlueTec Geometric" panose="020B0604020202020204"/>
        <a:ea typeface="Outfit ExtraBold"/>
        <a:cs typeface="Outfit ExtraBold"/>
      </a:majorFont>
      <a:minorFont>
        <a:latin typeface="BlueTec Geometric" panose="020B0604020202020204"/>
        <a:ea typeface="Outfit"/>
        <a:cs typeface="Outfit"/>
      </a:minorFont>
    </a:fontScheme>
    <a:fmtScheme name="Office">
      <a:fillStyleLst>
        <a:solidFill>
          <a:schemeClr clr="phClr"/>
        </a:solidFill>
        <a:gradFill rotWithShape="1">
          <a:gsLst>
            <a:gs pos="0">
              <a:schemeClr clr="phClr">
                <a:lumMod val="110000"/>
                <a:satMod val="105000"/>
                <a:tint val="67000"/>
              </a:schemeClr>
            </a:gs>
            <a:gs pos="50000">
              <a:schemeClr clr="phClr">
                <a:lumMod val="105000"/>
                <a:satMod val="103000"/>
                <a:tint val="73000"/>
              </a:schemeClr>
            </a:gs>
            <a:gs pos="100000">
              <a:schemeClr clr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clr="phClr">
                <a:satMod val="103000"/>
                <a:lumMod val="102000"/>
                <a:tint val="94000"/>
              </a:schemeClr>
            </a:gs>
            <a:gs pos="100000">
              <a:schemeClr clr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clr="phClr"/>
          </a:solidFill>
          <a:prstDash val="solid"/>
          <a:miter lim="800000"/>
        </a:ln>
        <a:ln w="12700" cap="flat" cmpd="sng" algn="ctr">
          <a:solidFill>
            <a:schemeClr clr="phClr"/>
          </a:solidFill>
          <a:prstDash val="solid"/>
          <a:miter lim="800000"/>
        </a:ln>
        <a:ln w="19050" cap="flat" cmpd="sng" algn="ctr">
          <a:solidFill>
            <a:schemeClr clr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clr="phClr"/>
        </a:solidFill>
        <a:solidFill>
          <a:schemeClr clr="phClr">
            <a:tint val="95000"/>
            <a:satMod val="170000"/>
          </a:schemeClr>
        </a:solidFill>
        <a:gradFill rotWithShape="1">
          <a:gsLst>
            <a:gs pos="0">
              <a:schemeClr clr="phClr">
                <a:tint val="93000"/>
                <a:satMod val="150000"/>
                <a:shade val="98000"/>
                <a:lumMod val="102000"/>
              </a:schemeClr>
            </a:gs>
            <a:gs pos="100000">
              <a:schemeClr clr="phClr">
                <a:lumMod val="99000"/>
                <a:satMod val="120000"/>
                <a:shade val="78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